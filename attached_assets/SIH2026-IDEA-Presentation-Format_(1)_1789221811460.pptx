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7272"/>
    <a:srgbClr val="9BBB59"/>
    <a:srgbClr val="39B0D4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  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         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37323" y="1397175"/>
            <a:ext cx="12113342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highlight>
                  <a:srgbClr val="000080"/>
                </a:highlight>
                <a:latin typeface="Arial" pitchFamily="34" charset="0"/>
                <a:cs typeface="Arial" pitchFamily="34" charset="0"/>
              </a:rPr>
              <a:t>PROPOSED SOLUTION                                                                                             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PackCheck Ai scans a packaged product using a phone camera,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Extracts label information and checks it against Legal metrology </a:t>
            </a: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Rules, </a:t>
            </a:r>
            <a:r>
              <a:rPr lang="en-US" sz="160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highlights violations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, and generates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an inspection report. </a:t>
            </a:r>
          </a:p>
          <a:p>
            <a:endParaRPr lang="en-US" sz="1600" dirty="0">
              <a:solidFill>
                <a:schemeClr val="accent3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5B80DF-02E9-C080-4BE7-583C39DC4F00}"/>
              </a:ext>
            </a:extLst>
          </p:cNvPr>
          <p:cNvSpPr txBox="1"/>
          <p:nvPr/>
        </p:nvSpPr>
        <p:spPr>
          <a:xfrm>
            <a:off x="7042904" y="332747"/>
            <a:ext cx="3330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PackCheck AI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Legal Metrology Compliance AI</a:t>
            </a:r>
            <a:endParaRPr lang="en-IN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75E533-A59D-41C1-E3B1-D5A9490C187A}"/>
              </a:ext>
            </a:extLst>
          </p:cNvPr>
          <p:cNvSpPr/>
          <p:nvPr/>
        </p:nvSpPr>
        <p:spPr>
          <a:xfrm>
            <a:off x="6400689" y="2569009"/>
            <a:ext cx="810060" cy="81361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94D26DB-5634-4155-573C-46CD727E1C9C}"/>
              </a:ext>
            </a:extLst>
          </p:cNvPr>
          <p:cNvSpPr/>
          <p:nvPr/>
        </p:nvSpPr>
        <p:spPr>
          <a:xfrm>
            <a:off x="1369551" y="2525547"/>
            <a:ext cx="810060" cy="813619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F8BE52-97E1-86E6-EB21-9DF6977BAE92}"/>
              </a:ext>
            </a:extLst>
          </p:cNvPr>
          <p:cNvSpPr/>
          <p:nvPr/>
        </p:nvSpPr>
        <p:spPr>
          <a:xfrm>
            <a:off x="94112" y="2574820"/>
            <a:ext cx="810060" cy="81361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5E1A15-ECE4-935A-46E6-9273DC38D350}"/>
              </a:ext>
            </a:extLst>
          </p:cNvPr>
          <p:cNvSpPr/>
          <p:nvPr/>
        </p:nvSpPr>
        <p:spPr>
          <a:xfrm>
            <a:off x="2615489" y="2533192"/>
            <a:ext cx="810060" cy="813619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43FD16-684C-C1B8-76BD-EFD76CD67CA7}"/>
              </a:ext>
            </a:extLst>
          </p:cNvPr>
          <p:cNvSpPr/>
          <p:nvPr/>
        </p:nvSpPr>
        <p:spPr>
          <a:xfrm>
            <a:off x="3880353" y="2525547"/>
            <a:ext cx="810060" cy="81361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CBF12FC-3F24-4A78-8135-919226BE96F6}"/>
              </a:ext>
            </a:extLst>
          </p:cNvPr>
          <p:cNvSpPr/>
          <p:nvPr/>
        </p:nvSpPr>
        <p:spPr>
          <a:xfrm>
            <a:off x="5135825" y="2559307"/>
            <a:ext cx="810060" cy="81361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Graphic 16" descr="Smart Phone with solid fill">
            <a:extLst>
              <a:ext uri="{FF2B5EF4-FFF2-40B4-BE49-F238E27FC236}">
                <a16:creationId xmlns:a16="http://schemas.microsoft.com/office/drawing/2014/main" id="{61F4E8F8-E7AC-649A-9B8D-18B84F2D80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908" y="2675601"/>
            <a:ext cx="692468" cy="563273"/>
          </a:xfrm>
          <a:prstGeom prst="rect">
            <a:avLst/>
          </a:prstGeom>
        </p:spPr>
      </p:pic>
      <p:pic>
        <p:nvPicPr>
          <p:cNvPr id="19" name="Graphic 18" descr="Magnifying glass with solid fill">
            <a:extLst>
              <a:ext uri="{FF2B5EF4-FFF2-40B4-BE49-F238E27FC236}">
                <a16:creationId xmlns:a16="http://schemas.microsoft.com/office/drawing/2014/main" id="{D77F8272-5184-CD07-74E4-3F5B19B53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2611" y="2626400"/>
            <a:ext cx="664053" cy="563273"/>
          </a:xfrm>
          <a:prstGeom prst="rect">
            <a:avLst/>
          </a:prstGeom>
        </p:spPr>
      </p:pic>
      <p:pic>
        <p:nvPicPr>
          <p:cNvPr id="21" name="Graphic 20" descr="Checklist with solid fill">
            <a:extLst>
              <a:ext uri="{FF2B5EF4-FFF2-40B4-BE49-F238E27FC236}">
                <a16:creationId xmlns:a16="http://schemas.microsoft.com/office/drawing/2014/main" id="{A5502EAB-9E71-5D18-A880-18501D1763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8377" y="2717195"/>
            <a:ext cx="605980" cy="528868"/>
          </a:xfrm>
          <a:prstGeom prst="rect">
            <a:avLst/>
          </a:prstGeom>
        </p:spPr>
      </p:pic>
      <p:pic>
        <p:nvPicPr>
          <p:cNvPr id="23" name="Graphic 22" descr="Scales of justice with solid fill">
            <a:extLst>
              <a:ext uri="{FF2B5EF4-FFF2-40B4-BE49-F238E27FC236}">
                <a16:creationId xmlns:a16="http://schemas.microsoft.com/office/drawing/2014/main" id="{8C4F1D40-2CBD-9F77-680B-0F1AE6910B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5503" y="2657965"/>
            <a:ext cx="439760" cy="580909"/>
          </a:xfrm>
          <a:prstGeom prst="rect">
            <a:avLst/>
          </a:prstGeom>
        </p:spPr>
      </p:pic>
      <p:pic>
        <p:nvPicPr>
          <p:cNvPr id="25" name="Graphic 24" descr="Warning with solid fill">
            <a:extLst>
              <a:ext uri="{FF2B5EF4-FFF2-40B4-BE49-F238E27FC236}">
                <a16:creationId xmlns:a16="http://schemas.microsoft.com/office/drawing/2014/main" id="{F5FCF6F0-82E3-CACE-F88B-D3B63D66D8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68376" y="2582280"/>
            <a:ext cx="544958" cy="647326"/>
          </a:xfrm>
          <a:prstGeom prst="rect">
            <a:avLst/>
          </a:prstGeom>
        </p:spPr>
      </p:pic>
      <p:pic>
        <p:nvPicPr>
          <p:cNvPr id="27" name="Graphic 26" descr="Document with solid fill">
            <a:extLst>
              <a:ext uri="{FF2B5EF4-FFF2-40B4-BE49-F238E27FC236}">
                <a16:creationId xmlns:a16="http://schemas.microsoft.com/office/drawing/2014/main" id="{C1829761-1D2A-7737-A844-4C7B12D656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01775" y="2642750"/>
            <a:ext cx="690734" cy="666135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750AF0-BB90-8195-8ADB-972E5DF7D8F3}"/>
              </a:ext>
            </a:extLst>
          </p:cNvPr>
          <p:cNvCxnSpPr/>
          <p:nvPr/>
        </p:nvCxnSpPr>
        <p:spPr>
          <a:xfrm>
            <a:off x="2179611" y="2964490"/>
            <a:ext cx="435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AB28C6-09F6-4072-B8B6-D53700D5C82B}"/>
              </a:ext>
            </a:extLst>
          </p:cNvPr>
          <p:cNvCxnSpPr/>
          <p:nvPr/>
        </p:nvCxnSpPr>
        <p:spPr>
          <a:xfrm>
            <a:off x="3425549" y="2957237"/>
            <a:ext cx="435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36182DF-E0CC-B49B-8EBA-72395F4739B2}"/>
              </a:ext>
            </a:extLst>
          </p:cNvPr>
          <p:cNvCxnSpPr/>
          <p:nvPr/>
        </p:nvCxnSpPr>
        <p:spPr>
          <a:xfrm>
            <a:off x="4706555" y="2981629"/>
            <a:ext cx="435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5C661F-FB39-C4BF-15E8-1DAE77A342EC}"/>
              </a:ext>
            </a:extLst>
          </p:cNvPr>
          <p:cNvCxnSpPr/>
          <p:nvPr/>
        </p:nvCxnSpPr>
        <p:spPr>
          <a:xfrm>
            <a:off x="5975788" y="2988999"/>
            <a:ext cx="435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3D91961-376F-09A6-E856-F09133D49367}"/>
              </a:ext>
            </a:extLst>
          </p:cNvPr>
          <p:cNvCxnSpPr/>
          <p:nvPr/>
        </p:nvCxnSpPr>
        <p:spPr>
          <a:xfrm>
            <a:off x="933673" y="2981629"/>
            <a:ext cx="435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9F4F980-C558-1D2C-2FAF-E1527A697A8E}"/>
              </a:ext>
            </a:extLst>
          </p:cNvPr>
          <p:cNvSpPr txBox="1"/>
          <p:nvPr/>
        </p:nvSpPr>
        <p:spPr>
          <a:xfrm>
            <a:off x="-68827" y="3440696"/>
            <a:ext cx="87310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1.Scan Package   2.Read Label     3.Extract Info   4.Check compliance  5.Detect Violations   6.Score &amp; Report</a:t>
            </a:r>
          </a:p>
          <a:p>
            <a:r>
              <a:rPr lang="en-US" sz="1200" dirty="0"/>
              <a:t>Capture image         OCR + Computer    Gets key details      Verify with Legal               Highlights exact area    Generate Compliance</a:t>
            </a:r>
          </a:p>
          <a:p>
            <a:r>
              <a:rPr lang="en-US" sz="1200" dirty="0"/>
              <a:t>Using phone             vision extracts        like MRP, NET          Metrology Rules &amp;           of issue and explains    score and inspection</a:t>
            </a:r>
          </a:p>
          <a:p>
            <a:r>
              <a:rPr lang="en-US" sz="1200" dirty="0"/>
              <a:t>camera                      text                          QTY, etc.                   requirements                   applicable rules              report</a:t>
            </a:r>
          </a:p>
          <a:p>
            <a:endParaRPr lang="en-IN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7EAD76-4EAF-C3FA-C83B-C8A0A85E818F}"/>
              </a:ext>
            </a:extLst>
          </p:cNvPr>
          <p:cNvSpPr txBox="1"/>
          <p:nvPr/>
        </p:nvSpPr>
        <p:spPr>
          <a:xfrm>
            <a:off x="61890" y="4434778"/>
            <a:ext cx="334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80"/>
                </a:highlight>
              </a:rPr>
              <a:t>INNOVATION AND UNIQUENESS</a:t>
            </a:r>
            <a:endParaRPr lang="en-IN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E5346E3-E097-C285-6CC5-72E890E4673E}"/>
              </a:ext>
            </a:extLst>
          </p:cNvPr>
          <p:cNvSpPr/>
          <p:nvPr/>
        </p:nvSpPr>
        <p:spPr>
          <a:xfrm>
            <a:off x="138805" y="4865657"/>
            <a:ext cx="1685131" cy="1356851"/>
          </a:xfrm>
          <a:prstGeom prst="round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VISUAL EVIDENCE</a:t>
            </a:r>
            <a:endParaRPr lang="en-IN" b="1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2F2D646-07DF-DB35-116B-A06112C55667}"/>
              </a:ext>
            </a:extLst>
          </p:cNvPr>
          <p:cNvSpPr/>
          <p:nvPr/>
        </p:nvSpPr>
        <p:spPr>
          <a:xfrm>
            <a:off x="1952462" y="4848177"/>
            <a:ext cx="1685131" cy="1356851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r>
              <a:rPr lang="en-IN" b="1" dirty="0"/>
              <a:t>RULE-LINKED</a:t>
            </a:r>
          </a:p>
          <a:p>
            <a:pPr algn="ctr"/>
            <a:r>
              <a:rPr lang="en-IN" b="1" dirty="0"/>
              <a:t>FINDINGS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5E569AC-7354-1B4A-9A6D-F2271A3FC72E}"/>
              </a:ext>
            </a:extLst>
          </p:cNvPr>
          <p:cNvSpPr/>
          <p:nvPr/>
        </p:nvSpPr>
        <p:spPr>
          <a:xfrm>
            <a:off x="5558424" y="4839313"/>
            <a:ext cx="1685131" cy="1356851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r>
              <a:rPr lang="en-IN" b="1" dirty="0"/>
              <a:t>INSPECTION</a:t>
            </a:r>
          </a:p>
          <a:p>
            <a:pPr algn="ctr"/>
            <a:r>
              <a:rPr lang="en-IN" b="1" dirty="0"/>
              <a:t>REPORT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6712DFE-9918-4AAD-83BA-21A262BE669E}"/>
              </a:ext>
            </a:extLst>
          </p:cNvPr>
          <p:cNvSpPr/>
          <p:nvPr/>
        </p:nvSpPr>
        <p:spPr>
          <a:xfrm>
            <a:off x="3755443" y="4839314"/>
            <a:ext cx="1685131" cy="1356851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r>
              <a:rPr lang="en-IN" b="1" dirty="0"/>
              <a:t>COMPLIANCE</a:t>
            </a:r>
          </a:p>
          <a:p>
            <a:pPr algn="ctr"/>
            <a:r>
              <a:rPr lang="en-IN" b="1" dirty="0"/>
              <a:t>SCORE</a:t>
            </a:r>
          </a:p>
        </p:txBody>
      </p:sp>
      <p:pic>
        <p:nvPicPr>
          <p:cNvPr id="44" name="Graphic 43" descr="Eye with solid fill">
            <a:extLst>
              <a:ext uri="{FF2B5EF4-FFF2-40B4-BE49-F238E27FC236}">
                <a16:creationId xmlns:a16="http://schemas.microsoft.com/office/drawing/2014/main" id="{043194EA-8833-AC82-850F-44305F9A6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869" y="4819473"/>
            <a:ext cx="550606" cy="720064"/>
          </a:xfrm>
          <a:prstGeom prst="rect">
            <a:avLst/>
          </a:prstGeom>
        </p:spPr>
      </p:pic>
      <p:pic>
        <p:nvPicPr>
          <p:cNvPr id="46" name="Graphic 45" descr="Document with solid fill">
            <a:extLst>
              <a:ext uri="{FF2B5EF4-FFF2-40B4-BE49-F238E27FC236}">
                <a16:creationId xmlns:a16="http://schemas.microsoft.com/office/drawing/2014/main" id="{3C9043FE-2714-2A01-83E5-CEBE2E47F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92894" y="4929115"/>
            <a:ext cx="604268" cy="580475"/>
          </a:xfrm>
          <a:prstGeom prst="rect">
            <a:avLst/>
          </a:prstGeom>
        </p:spPr>
      </p:pic>
      <p:pic>
        <p:nvPicPr>
          <p:cNvPr id="48" name="Graphic 47" descr="Bar chart with solid fill">
            <a:extLst>
              <a:ext uri="{FF2B5EF4-FFF2-40B4-BE49-F238E27FC236}">
                <a16:creationId xmlns:a16="http://schemas.microsoft.com/office/drawing/2014/main" id="{80B21391-DA27-DB4B-082A-4C549B19A2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64447" y="4848177"/>
            <a:ext cx="771968" cy="720064"/>
          </a:xfrm>
          <a:prstGeom prst="rect">
            <a:avLst/>
          </a:prstGeom>
        </p:spPr>
      </p:pic>
      <p:pic>
        <p:nvPicPr>
          <p:cNvPr id="50" name="Graphic 49" descr="List with solid fill">
            <a:extLst>
              <a:ext uri="{FF2B5EF4-FFF2-40B4-BE49-F238E27FC236}">
                <a16:creationId xmlns:a16="http://schemas.microsoft.com/office/drawing/2014/main" id="{9DC72EE7-BACC-EB85-D218-0C3B08B40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82133" y="4901011"/>
            <a:ext cx="582285" cy="66723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C19EE78-0735-A686-D7E6-C3B795B7C042}"/>
              </a:ext>
            </a:extLst>
          </p:cNvPr>
          <p:cNvSpPr txBox="1"/>
          <p:nvPr/>
        </p:nvSpPr>
        <p:spPr>
          <a:xfrm>
            <a:off x="8162412" y="1550171"/>
            <a:ext cx="3628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80"/>
                </a:highlight>
              </a:rPr>
              <a:t>HOW IT ADDRESSES THE PROBLEM</a:t>
            </a:r>
            <a:endParaRPr lang="en-IN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5D0EF33-C1D1-06B6-9C71-87E1AC74A29D}"/>
              </a:ext>
            </a:extLst>
          </p:cNvPr>
          <p:cNvSpPr/>
          <p:nvPr/>
        </p:nvSpPr>
        <p:spPr>
          <a:xfrm>
            <a:off x="7935658" y="1919503"/>
            <a:ext cx="4153461" cy="3825379"/>
          </a:xfrm>
          <a:prstGeom prst="round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       </a:t>
            </a:r>
            <a:r>
              <a:rPr lang="en-US" b="1" dirty="0"/>
              <a:t>Saves Time</a:t>
            </a:r>
            <a:r>
              <a:rPr lang="en-US" dirty="0"/>
              <a:t>- Automates Manual       </a:t>
            </a:r>
          </a:p>
          <a:p>
            <a:r>
              <a:rPr lang="en-US" dirty="0"/>
              <a:t>          checking 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b="1" dirty="0"/>
              <a:t>Accurate and Consistent-</a:t>
            </a:r>
            <a:r>
              <a:rPr lang="en-US" dirty="0"/>
              <a:t>Reduces              </a:t>
            </a:r>
          </a:p>
          <a:p>
            <a:r>
              <a:rPr lang="en-US" dirty="0"/>
              <a:t>         human errors</a:t>
            </a:r>
          </a:p>
          <a:p>
            <a:endParaRPr lang="en-US" dirty="0"/>
          </a:p>
          <a:p>
            <a:r>
              <a:rPr lang="en-US" dirty="0"/>
              <a:t>         </a:t>
            </a:r>
            <a:r>
              <a:rPr lang="en-US" b="1" dirty="0"/>
              <a:t>Evidence Based</a:t>
            </a:r>
            <a:r>
              <a:rPr lang="en-US" dirty="0"/>
              <a:t>- Shows exact   </a:t>
            </a:r>
          </a:p>
          <a:p>
            <a:r>
              <a:rPr lang="en-US" dirty="0"/>
              <a:t>         violations with rule reference</a:t>
            </a:r>
          </a:p>
          <a:p>
            <a:endParaRPr lang="en-US" dirty="0"/>
          </a:p>
          <a:p>
            <a:r>
              <a:rPr lang="en-IN" b="1" dirty="0"/>
              <a:t>         Easy reporting</a:t>
            </a:r>
            <a:r>
              <a:rPr lang="en-IN" dirty="0"/>
              <a:t>- Generates digital </a:t>
            </a:r>
          </a:p>
          <a:p>
            <a:r>
              <a:rPr lang="en-IN" dirty="0"/>
              <a:t>         inspection reports for records                </a:t>
            </a:r>
          </a:p>
          <a:p>
            <a:r>
              <a:rPr lang="en-IN" dirty="0"/>
              <a:t>         and action</a:t>
            </a:r>
          </a:p>
        </p:txBody>
      </p:sp>
      <p:pic>
        <p:nvPicPr>
          <p:cNvPr id="59" name="Graphic 58" descr="Clock with solid fill">
            <a:extLst>
              <a:ext uri="{FF2B5EF4-FFF2-40B4-BE49-F238E27FC236}">
                <a16:creationId xmlns:a16="http://schemas.microsoft.com/office/drawing/2014/main" id="{ED10283B-E838-7A3E-B947-A8724C88D5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62412" y="2115327"/>
            <a:ext cx="459212" cy="526163"/>
          </a:xfrm>
          <a:prstGeom prst="rect">
            <a:avLst/>
          </a:prstGeom>
        </p:spPr>
      </p:pic>
      <p:pic>
        <p:nvPicPr>
          <p:cNvPr id="61" name="Graphic 60" descr="Eye with solid fill">
            <a:extLst>
              <a:ext uri="{FF2B5EF4-FFF2-40B4-BE49-F238E27FC236}">
                <a16:creationId xmlns:a16="http://schemas.microsoft.com/office/drawing/2014/main" id="{7D84DEC4-E6C7-4C9D-0232-0F8B66ED5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12006" y="2891319"/>
            <a:ext cx="448554" cy="525985"/>
          </a:xfrm>
          <a:prstGeom prst="rect">
            <a:avLst/>
          </a:prstGeom>
        </p:spPr>
      </p:pic>
      <p:pic>
        <p:nvPicPr>
          <p:cNvPr id="63" name="Graphic 62" descr="Paperclip with solid fill">
            <a:extLst>
              <a:ext uri="{FF2B5EF4-FFF2-40B4-BE49-F238E27FC236}">
                <a16:creationId xmlns:a16="http://schemas.microsoft.com/office/drawing/2014/main" id="{E46A3449-1C90-1521-19E4-F7E14B014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82745" y="3745147"/>
            <a:ext cx="579474" cy="538620"/>
          </a:xfrm>
          <a:prstGeom prst="rect">
            <a:avLst/>
          </a:prstGeom>
        </p:spPr>
      </p:pic>
      <p:pic>
        <p:nvPicPr>
          <p:cNvPr id="15363" name="Graphic 15362" descr="Document with solid fill">
            <a:extLst>
              <a:ext uri="{FF2B5EF4-FFF2-40B4-BE49-F238E27FC236}">
                <a16:creationId xmlns:a16="http://schemas.microsoft.com/office/drawing/2014/main" id="{2F9C0695-9771-BCC3-D081-B171D6BFD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62412" y="4682469"/>
            <a:ext cx="457200" cy="5386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7746</TotalTime>
  <Words>472</Words>
  <Application>Microsoft Office PowerPoint</Application>
  <PresentationFormat>Widescreen</PresentationFormat>
  <Paragraphs>96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              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vijulmadhuri@gmail.com</cp:lastModifiedBy>
  <cp:revision>149</cp:revision>
  <dcterms:created xsi:type="dcterms:W3CDTF">2013-12-12T18:46:50Z</dcterms:created>
  <dcterms:modified xsi:type="dcterms:W3CDTF">2026-08-30T09:06:38Z</dcterms:modified>
  <cp:category/>
</cp:coreProperties>
</file>